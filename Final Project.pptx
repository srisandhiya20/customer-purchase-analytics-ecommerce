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Albert Sans"/>
      <p:regular r:id="rId16"/>
      <p:bold r:id="rId17"/>
      <p:italic r:id="rId18"/>
      <p:boldItalic r:id="rId19"/>
    </p:embeddedFont>
    <p:embeddedFont>
      <p:font typeface="Nanum Myeongjo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NanumMyeongjo-regular.fntdata"/><Relationship Id="rId21" Type="http://schemas.openxmlformats.org/officeDocument/2006/relationships/font" Target="fonts/NanumMyeongj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lbertSans-bold.fntdata"/><Relationship Id="rId16" Type="http://schemas.openxmlformats.org/officeDocument/2006/relationships/font" Target="fonts/AlbertSans-regular.fntdata"/><Relationship Id="rId19" Type="http://schemas.openxmlformats.org/officeDocument/2006/relationships/font" Target="fonts/AlbertSans-boldItalic.fntdata"/><Relationship Id="rId18" Type="http://schemas.openxmlformats.org/officeDocument/2006/relationships/font" Target="fonts/Albert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1b0515a134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1b0515a134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1b0f53909b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1b0f53909b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1b0515a134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1b0515a134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1b0515a134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1b0515a134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1b0515a134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1b0515a134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1b0515a134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1b0515a134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1b0f53909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1b0f53909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1b0f53909b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1b0f53909b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1b0f53909b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1b0f53909b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Font typeface="Nanum Myeongjo"/>
              <a:buNone/>
              <a:defRPr sz="7200"/>
            </a:lvl1pPr>
            <a:lvl2pPr lvl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829943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58" name="Google Shape;58;p14"/>
          <p:cNvSpPr txBox="1"/>
          <p:nvPr>
            <p:ph idx="4" type="subTitle"/>
          </p:nvPr>
        </p:nvSpPr>
        <p:spPr>
          <a:xfrm>
            <a:off x="5258968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59" name="Google Shape;59;p14"/>
          <p:cNvSpPr/>
          <p:nvPr>
            <p:ph idx="5" type="pic"/>
          </p:nvPr>
        </p:nvSpPr>
        <p:spPr>
          <a:xfrm>
            <a:off x="228600" y="223475"/>
            <a:ext cx="2857200" cy="2348100"/>
          </a:xfrm>
          <a:prstGeom prst="round2SameRect">
            <a:avLst>
              <a:gd fmla="val 4621" name="adj1"/>
              <a:gd fmla="val 0" name="adj2"/>
            </a:avLst>
          </a:prstGeom>
          <a:noFill/>
          <a:ln>
            <a:noFill/>
          </a:ln>
        </p:spPr>
      </p:sp>
      <p:sp>
        <p:nvSpPr>
          <p:cNvPr id="60" name="Google Shape;60;p14"/>
          <p:cNvSpPr/>
          <p:nvPr>
            <p:ph idx="6" type="pic"/>
          </p:nvPr>
        </p:nvSpPr>
        <p:spPr>
          <a:xfrm rot="10800000">
            <a:off x="228600" y="2564446"/>
            <a:ext cx="2857200" cy="2348100"/>
          </a:xfrm>
          <a:prstGeom prst="round2SameRect">
            <a:avLst>
              <a:gd fmla="val 5506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List of 4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2" type="title"/>
          </p:nvPr>
        </p:nvSpPr>
        <p:spPr>
          <a:xfrm>
            <a:off x="4469650" y="9364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title"/>
          </p:nvPr>
        </p:nvSpPr>
        <p:spPr>
          <a:xfrm>
            <a:off x="4469650" y="17540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4" type="title"/>
          </p:nvPr>
        </p:nvSpPr>
        <p:spPr>
          <a:xfrm>
            <a:off x="4469650" y="257470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5" type="title"/>
          </p:nvPr>
        </p:nvSpPr>
        <p:spPr>
          <a:xfrm>
            <a:off x="4454025" y="3395350"/>
            <a:ext cx="44532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15"/>
          <p:cNvSpPr/>
          <p:nvPr>
            <p:ph idx="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Purple">
  <p:cSld name="CUSTOM">
    <p:bg>
      <p:bgPr>
        <a:solidFill>
          <a:schemeClr val="lt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16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Green">
  <p:cSld name="CUSTOM_5">
    <p:bg>
      <p:bgPr>
        <a:solidFill>
          <a:schemeClr val="accen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17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Teal">
  <p:cSld name="CUSTOM_5_1">
    <p:bg>
      <p:bgPr>
        <a:solidFill>
          <a:schemeClr val="accen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18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Blue">
  <p:cSld name="CUSTOM_5_1_1">
    <p:bg>
      <p:bgPr>
        <a:solidFill>
          <a:schemeClr val="accent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19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ll Quote">
  <p:cSld name="CUSTOM_1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20"/>
          <p:cNvSpPr txBox="1"/>
          <p:nvPr>
            <p:ph idx="1" type="subTitle"/>
          </p:nvPr>
        </p:nvSpPr>
        <p:spPr>
          <a:xfrm>
            <a:off x="4627750" y="1204950"/>
            <a:ext cx="24897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3" type="body"/>
          </p:nvPr>
        </p:nvSpPr>
        <p:spPr>
          <a:xfrm>
            <a:off x="4627750" y="1592350"/>
            <a:ext cx="25392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2" name="Google Shape;92;p20"/>
          <p:cNvSpPr/>
          <p:nvPr>
            <p:ph idx="4" type="pic"/>
          </p:nvPr>
        </p:nvSpPr>
        <p:spPr>
          <a:xfrm rot="-5400000">
            <a:off x="1529325" y="1257825"/>
            <a:ext cx="3114600" cy="2619600"/>
          </a:xfrm>
          <a:prstGeom prst="round2SameRect">
            <a:avLst>
              <a:gd fmla="val 3848" name="adj1"/>
              <a:gd fmla="val 0" name="adj2"/>
            </a:avLst>
          </a:prstGeom>
          <a:noFill/>
          <a:ln>
            <a:noFill/>
          </a:ln>
        </p:spPr>
      </p:sp>
      <p:sp>
        <p:nvSpPr>
          <p:cNvPr id="93" name="Google Shape;93;p20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36">
          <p15:clr>
            <a:srgbClr val="E46962"/>
          </p15:clr>
        </p15:guide>
        <p15:guide id="2" orient="horz" pos="2604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 Image">
  <p:cSld name="CUSTOM_2">
    <p:bg>
      <p:bgPr>
        <a:solidFill>
          <a:schemeClr val="l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>
            <p:ph idx="2" type="pic"/>
          </p:nvPr>
        </p:nvSpPr>
        <p:spPr>
          <a:xfrm>
            <a:off x="120000" y="114300"/>
            <a:ext cx="8904000" cy="49149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+ Content">
  <p:cSld name="CUSTOM_3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5235220" y="2573350"/>
            <a:ext cx="3798300" cy="19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2" type="body"/>
          </p:nvPr>
        </p:nvSpPr>
        <p:spPr>
          <a:xfrm>
            <a:off x="5235220" y="750863"/>
            <a:ext cx="37299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type="title"/>
          </p:nvPr>
        </p:nvSpPr>
        <p:spPr>
          <a:xfrm>
            <a:off x="5257467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1" name="Google Shape;101;p22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/>
          <p:nvPr>
            <p:ph idx="5" type="pic"/>
          </p:nvPr>
        </p:nvSpPr>
        <p:spPr>
          <a:xfrm rot="10800000">
            <a:off x="228600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103" name="Google Shape;103;p22"/>
          <p:cNvSpPr/>
          <p:nvPr>
            <p:ph idx="6" type="pic"/>
          </p:nvPr>
        </p:nvSpPr>
        <p:spPr>
          <a:xfrm>
            <a:off x="2486554" y="22352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104" name="Google Shape;104;p22"/>
          <p:cNvSpPr/>
          <p:nvPr>
            <p:ph idx="7" type="pic"/>
          </p:nvPr>
        </p:nvSpPr>
        <p:spPr>
          <a:xfrm flipH="1" rot="10800000">
            <a:off x="2486554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105" name="Google Shape;105;p22"/>
          <p:cNvSpPr/>
          <p:nvPr>
            <p:ph idx="8" type="pic"/>
          </p:nvPr>
        </p:nvSpPr>
        <p:spPr>
          <a:xfrm flipH="1">
            <a:off x="228600" y="22457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3_1">
    <p:bg>
      <p:bgPr>
        <a:solidFill>
          <a:schemeClr val="lt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/>
          <p:nvPr>
            <p:ph idx="2" type="pic"/>
          </p:nvPr>
        </p:nvSpPr>
        <p:spPr>
          <a:xfrm>
            <a:off x="114275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08" name="Google Shape;108;p23"/>
          <p:cNvSpPr/>
          <p:nvPr>
            <p:ph idx="3" type="pic"/>
          </p:nvPr>
        </p:nvSpPr>
        <p:spPr>
          <a:xfrm>
            <a:off x="3117080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09" name="Google Shape;109;p23"/>
          <p:cNvSpPr/>
          <p:nvPr>
            <p:ph idx="4" type="pic"/>
          </p:nvPr>
        </p:nvSpPr>
        <p:spPr>
          <a:xfrm>
            <a:off x="114275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0" name="Google Shape;110;p23"/>
          <p:cNvSpPr/>
          <p:nvPr>
            <p:ph idx="5" type="pic"/>
          </p:nvPr>
        </p:nvSpPr>
        <p:spPr>
          <a:xfrm>
            <a:off x="3117080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1" name="Google Shape;111;p23"/>
          <p:cNvSpPr/>
          <p:nvPr>
            <p:ph idx="6" type="pic"/>
          </p:nvPr>
        </p:nvSpPr>
        <p:spPr>
          <a:xfrm>
            <a:off x="6109898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2" name="Google Shape;112;p23"/>
          <p:cNvSpPr/>
          <p:nvPr>
            <p:ph idx="7" type="pic"/>
          </p:nvPr>
        </p:nvSpPr>
        <p:spPr>
          <a:xfrm>
            <a:off x="6109898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">
  <p:cSld name="CUSTOM_4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idx="1" type="body"/>
          </p:nvPr>
        </p:nvSpPr>
        <p:spPr>
          <a:xfrm>
            <a:off x="970234" y="770775"/>
            <a:ext cx="3729900" cy="161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15" name="Google Shape;115;p24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2" type="body"/>
          </p:nvPr>
        </p:nvSpPr>
        <p:spPr>
          <a:xfrm>
            <a:off x="5235225" y="824225"/>
            <a:ext cx="3321600" cy="3470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" name="Google Shape;117;p24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24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CUSTOM_4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idx="1" type="body"/>
          </p:nvPr>
        </p:nvSpPr>
        <p:spPr>
          <a:xfrm>
            <a:off x="949503" y="770775"/>
            <a:ext cx="71715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21" name="Google Shape;121;p25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2" type="body"/>
          </p:nvPr>
        </p:nvSpPr>
        <p:spPr>
          <a:xfrm>
            <a:off x="961716" y="2599900"/>
            <a:ext cx="7145100" cy="18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25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25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Problem">
  <p:cSld name="CUSTOM_6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26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8" name="Google Shape;128;p26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b="0"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29" name="Google Shape;129;p26"/>
          <p:cNvSpPr txBox="1"/>
          <p:nvPr>
            <p:ph idx="3"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0" name="Google Shape;130;p26"/>
          <p:cNvSpPr txBox="1"/>
          <p:nvPr>
            <p:ph idx="4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&amp; Benefits">
  <p:cSld name="CUSTOM_7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idx="1" type="subTitle"/>
          </p:nvPr>
        </p:nvSpPr>
        <p:spPr>
          <a:xfrm>
            <a:off x="-394525" y="762900"/>
            <a:ext cx="29583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idx="2" type="subTitle"/>
          </p:nvPr>
        </p:nvSpPr>
        <p:spPr>
          <a:xfrm>
            <a:off x="7780000" y="762900"/>
            <a:ext cx="19617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3" type="subTitle"/>
          </p:nvPr>
        </p:nvSpPr>
        <p:spPr>
          <a:xfrm>
            <a:off x="-867225" y="1991550"/>
            <a:ext cx="20115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4" type="subTitle"/>
          </p:nvPr>
        </p:nvSpPr>
        <p:spPr>
          <a:xfrm>
            <a:off x="1384800" y="1991550"/>
            <a:ext cx="19617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6" name="Google Shape;136;p27"/>
          <p:cNvSpPr txBox="1"/>
          <p:nvPr>
            <p:ph idx="5" type="subTitle"/>
          </p:nvPr>
        </p:nvSpPr>
        <p:spPr>
          <a:xfrm>
            <a:off x="3556975" y="1991550"/>
            <a:ext cx="44034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9pPr>
          </a:lstStyle>
          <a:p/>
        </p:txBody>
      </p:sp>
      <p:sp>
        <p:nvSpPr>
          <p:cNvPr id="137" name="Google Shape;137;p27"/>
          <p:cNvSpPr txBox="1"/>
          <p:nvPr>
            <p:ph idx="6" type="subTitle"/>
          </p:nvPr>
        </p:nvSpPr>
        <p:spPr>
          <a:xfrm>
            <a:off x="8207225" y="1991550"/>
            <a:ext cx="22164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7" type="subTitle"/>
          </p:nvPr>
        </p:nvSpPr>
        <p:spPr>
          <a:xfrm>
            <a:off x="307950" y="3220200"/>
            <a:ext cx="38076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9" name="Google Shape;139;p27"/>
          <p:cNvSpPr txBox="1"/>
          <p:nvPr>
            <p:ph idx="8" type="subTitle"/>
          </p:nvPr>
        </p:nvSpPr>
        <p:spPr>
          <a:xfrm>
            <a:off x="4367925" y="3220200"/>
            <a:ext cx="21210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9" type="subTitle"/>
          </p:nvPr>
        </p:nvSpPr>
        <p:spPr>
          <a:xfrm>
            <a:off x="6718750" y="3220200"/>
            <a:ext cx="23832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41" name="Google Shape;141;p27"/>
          <p:cNvSpPr txBox="1"/>
          <p:nvPr>
            <p:ph idx="13" type="subTitle"/>
          </p:nvPr>
        </p:nvSpPr>
        <p:spPr>
          <a:xfrm>
            <a:off x="2793625" y="762900"/>
            <a:ext cx="21435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4" type="subTitle"/>
          </p:nvPr>
        </p:nvSpPr>
        <p:spPr>
          <a:xfrm>
            <a:off x="5151963" y="762900"/>
            <a:ext cx="24132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43" name="Google Shape;143;p27"/>
          <p:cNvSpPr/>
          <p:nvPr>
            <p:ph idx="1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27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7" name="Google Shape;147;p2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3831000" y="327150"/>
            <a:ext cx="45003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Graph">
  <p:cSld name="CUSTOM_8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idx="1" type="subTitle"/>
          </p:nvPr>
        </p:nvSpPr>
        <p:spPr>
          <a:xfrm>
            <a:off x="955475" y="1615450"/>
            <a:ext cx="3291600" cy="28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3" name="Google Shape;153;p29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4" name="Google Shape;154;p29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Solution">
  <p:cSld name="CUSTOM_9">
    <p:bg>
      <p:bgPr>
        <a:solidFill>
          <a:schemeClr val="accen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2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0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y It Works">
  <p:cSld name="CUSTOM_9_1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1"/>
          <p:cNvSpPr/>
          <p:nvPr>
            <p:ph idx="2" type="pic"/>
          </p:nvPr>
        </p:nvSpPr>
        <p:spPr>
          <a:xfrm rot="-5400000">
            <a:off x="-113050" y="322725"/>
            <a:ext cx="4911300" cy="4450500"/>
          </a:xfrm>
          <a:prstGeom prst="round2SameRect">
            <a:avLst>
              <a:gd fmla="val 286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5364025" y="704025"/>
            <a:ext cx="3437700" cy="3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" name="Google Shape;166;p31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1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Audience Venn Diagram">
  <p:cSld name="CUSTOM_10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2"/>
          <p:cNvSpPr txBox="1"/>
          <p:nvPr>
            <p:ph idx="2" type="title"/>
          </p:nvPr>
        </p:nvSpPr>
        <p:spPr>
          <a:xfrm>
            <a:off x="956150" y="39420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71" name="Google Shape;171;p32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3 Concepts">
  <p:cSld name="CUSTOM_11">
    <p:bg>
      <p:bgPr>
        <a:solidFill>
          <a:schemeClr val="accent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3"/>
          <p:cNvSpPr txBox="1"/>
          <p:nvPr>
            <p:ph type="title"/>
          </p:nvPr>
        </p:nvSpPr>
        <p:spPr>
          <a:xfrm>
            <a:off x="941780" y="715125"/>
            <a:ext cx="78600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1188971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6" name="Google Shape;176;p33"/>
          <p:cNvSpPr txBox="1"/>
          <p:nvPr>
            <p:ph idx="2" type="body"/>
          </p:nvPr>
        </p:nvSpPr>
        <p:spPr>
          <a:xfrm>
            <a:off x="3628515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7" name="Google Shape;177;p33"/>
          <p:cNvSpPr txBox="1"/>
          <p:nvPr>
            <p:ph idx="3" type="subTitle"/>
          </p:nvPr>
        </p:nvSpPr>
        <p:spPr>
          <a:xfrm>
            <a:off x="1078092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8" name="Google Shape;178;p33"/>
          <p:cNvSpPr txBox="1"/>
          <p:nvPr>
            <p:ph idx="4" type="subTitle"/>
          </p:nvPr>
        </p:nvSpPr>
        <p:spPr>
          <a:xfrm>
            <a:off x="3524146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9" name="Google Shape;179;p33"/>
          <p:cNvSpPr txBox="1"/>
          <p:nvPr>
            <p:ph idx="5" type="subTitle"/>
          </p:nvPr>
        </p:nvSpPr>
        <p:spPr>
          <a:xfrm>
            <a:off x="5970200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0" name="Google Shape;180;p33"/>
          <p:cNvSpPr txBox="1"/>
          <p:nvPr>
            <p:ph idx="6" type="body"/>
          </p:nvPr>
        </p:nvSpPr>
        <p:spPr>
          <a:xfrm>
            <a:off x="6068972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1" name="Google Shape;181;p33"/>
          <p:cNvSpPr/>
          <p:nvPr>
            <p:ph idx="7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6 Concepts">
  <p:cSld name="CUSTOM_11_1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4"/>
          <p:cNvSpPr txBox="1"/>
          <p:nvPr>
            <p:ph idx="1" type="subTitle"/>
          </p:nvPr>
        </p:nvSpPr>
        <p:spPr>
          <a:xfrm>
            <a:off x="1062065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34"/>
          <p:cNvSpPr txBox="1"/>
          <p:nvPr>
            <p:ph idx="2" type="subTitle"/>
          </p:nvPr>
        </p:nvSpPr>
        <p:spPr>
          <a:xfrm>
            <a:off x="3507690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" name="Google Shape;186;p34"/>
          <p:cNvSpPr txBox="1"/>
          <p:nvPr>
            <p:ph idx="3" type="subTitle"/>
          </p:nvPr>
        </p:nvSpPr>
        <p:spPr>
          <a:xfrm>
            <a:off x="5956640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34"/>
          <p:cNvSpPr txBox="1"/>
          <p:nvPr>
            <p:ph idx="4" type="body"/>
          </p:nvPr>
        </p:nvSpPr>
        <p:spPr>
          <a:xfrm>
            <a:off x="1172475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8" name="Google Shape;188;p34"/>
          <p:cNvSpPr txBox="1"/>
          <p:nvPr>
            <p:ph idx="5" type="body"/>
          </p:nvPr>
        </p:nvSpPr>
        <p:spPr>
          <a:xfrm>
            <a:off x="3618100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34"/>
          <p:cNvSpPr txBox="1"/>
          <p:nvPr>
            <p:ph idx="6" type="body"/>
          </p:nvPr>
        </p:nvSpPr>
        <p:spPr>
          <a:xfrm>
            <a:off x="6067050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" name="Google Shape;190;p34"/>
          <p:cNvSpPr txBox="1"/>
          <p:nvPr>
            <p:ph idx="7" type="subTitle"/>
          </p:nvPr>
        </p:nvSpPr>
        <p:spPr>
          <a:xfrm>
            <a:off x="5956640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34"/>
          <p:cNvSpPr txBox="1"/>
          <p:nvPr>
            <p:ph idx="8" type="body"/>
          </p:nvPr>
        </p:nvSpPr>
        <p:spPr>
          <a:xfrm>
            <a:off x="3618088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2" name="Google Shape;192;p34"/>
          <p:cNvSpPr txBox="1"/>
          <p:nvPr>
            <p:ph idx="9" type="subTitle"/>
          </p:nvPr>
        </p:nvSpPr>
        <p:spPr>
          <a:xfrm>
            <a:off x="3508752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34"/>
          <p:cNvSpPr txBox="1"/>
          <p:nvPr>
            <p:ph idx="13" type="body"/>
          </p:nvPr>
        </p:nvSpPr>
        <p:spPr>
          <a:xfrm>
            <a:off x="1171275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4" name="Google Shape;194;p34"/>
          <p:cNvSpPr txBox="1"/>
          <p:nvPr>
            <p:ph idx="14" type="subTitle"/>
          </p:nvPr>
        </p:nvSpPr>
        <p:spPr>
          <a:xfrm>
            <a:off x="1060865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5" name="Google Shape;195;p34"/>
          <p:cNvSpPr txBox="1"/>
          <p:nvPr>
            <p:ph idx="15" type="body"/>
          </p:nvPr>
        </p:nvSpPr>
        <p:spPr>
          <a:xfrm>
            <a:off x="6067050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6" name="Google Shape;196;p34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7" name="Google Shape;197;p34"/>
          <p:cNvSpPr/>
          <p:nvPr>
            <p:ph idx="1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Graph">
  <p:cSld name="CUSTOM_1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idx="1" type="subTitle"/>
          </p:nvPr>
        </p:nvSpPr>
        <p:spPr>
          <a:xfrm>
            <a:off x="960850" y="3191652"/>
            <a:ext cx="40827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200" name="Google Shape;200;p35"/>
          <p:cNvSpPr txBox="1"/>
          <p:nvPr>
            <p:ph type="title"/>
          </p:nvPr>
        </p:nvSpPr>
        <p:spPr>
          <a:xfrm>
            <a:off x="932850" y="730375"/>
            <a:ext cx="40827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01" name="Google Shape;201;p35"/>
          <p:cNvSpPr txBox="1"/>
          <p:nvPr>
            <p:ph idx="2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5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Graph">
  <p:cSld name="CUSTOM_13">
    <p:bg>
      <p:bgPr>
        <a:solidFill>
          <a:schemeClr val="accent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6"/>
          <p:cNvSpPr txBox="1"/>
          <p:nvPr>
            <p:ph idx="1" type="subTitle"/>
          </p:nvPr>
        </p:nvSpPr>
        <p:spPr>
          <a:xfrm>
            <a:off x="5251039" y="2593520"/>
            <a:ext cx="25716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36"/>
          <p:cNvSpPr txBox="1"/>
          <p:nvPr>
            <p:ph idx="2" type="subTitle"/>
          </p:nvPr>
        </p:nvSpPr>
        <p:spPr>
          <a:xfrm>
            <a:off x="5233275" y="763675"/>
            <a:ext cx="3576600" cy="1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7" name="Google Shape;207;p36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8" name="Google Shape;208;p36"/>
          <p:cNvSpPr txBox="1"/>
          <p:nvPr>
            <p:ph idx="3" type="title"/>
          </p:nvPr>
        </p:nvSpPr>
        <p:spPr>
          <a:xfrm>
            <a:off x="5251132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9" name="Google Shape;209;p36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6"/>
          <p:cNvSpPr/>
          <p:nvPr>
            <p:ph idx="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Landscape">
  <p:cSld name="CUSTOM_14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6564350" y="57761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3" name="Google Shape;213;p37"/>
          <p:cNvSpPr txBox="1"/>
          <p:nvPr>
            <p:ph idx="2" type="body"/>
          </p:nvPr>
        </p:nvSpPr>
        <p:spPr>
          <a:xfrm>
            <a:off x="6564350" y="1810914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3" type="body"/>
          </p:nvPr>
        </p:nvSpPr>
        <p:spPr>
          <a:xfrm>
            <a:off x="6564350" y="3038996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" name="Google Shape;215;p37"/>
          <p:cNvSpPr txBox="1"/>
          <p:nvPr>
            <p:ph type="title"/>
          </p:nvPr>
        </p:nvSpPr>
        <p:spPr>
          <a:xfrm>
            <a:off x="3706300" y="32715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4" type="body"/>
          </p:nvPr>
        </p:nvSpPr>
        <p:spPr>
          <a:xfrm>
            <a:off x="3706300" y="57761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7" name="Google Shape;217;p37"/>
          <p:cNvSpPr txBox="1"/>
          <p:nvPr>
            <p:ph idx="5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8" name="Google Shape;218;p37"/>
          <p:cNvSpPr txBox="1"/>
          <p:nvPr>
            <p:ph idx="6" type="title"/>
          </p:nvPr>
        </p:nvSpPr>
        <p:spPr>
          <a:xfrm>
            <a:off x="956150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9" name="Google Shape;219;p37"/>
          <p:cNvSpPr/>
          <p:nvPr>
            <p:ph idx="7" type="pic"/>
          </p:nvPr>
        </p:nvSpPr>
        <p:spPr>
          <a:xfrm>
            <a:off x="320562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0" name="Google Shape;220;p37"/>
          <p:cNvSpPr/>
          <p:nvPr>
            <p:ph idx="8" type="pic"/>
          </p:nvPr>
        </p:nvSpPr>
        <p:spPr>
          <a:xfrm>
            <a:off x="606367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1" name="Google Shape;221;p37"/>
          <p:cNvSpPr/>
          <p:nvPr>
            <p:ph idx="9" type="pic"/>
          </p:nvPr>
        </p:nvSpPr>
        <p:spPr>
          <a:xfrm>
            <a:off x="320562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2" name="Google Shape;222;p37"/>
          <p:cNvSpPr/>
          <p:nvPr>
            <p:ph idx="13" type="pic"/>
          </p:nvPr>
        </p:nvSpPr>
        <p:spPr>
          <a:xfrm>
            <a:off x="606367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37"/>
          <p:cNvSpPr/>
          <p:nvPr>
            <p:ph idx="14" type="pic"/>
          </p:nvPr>
        </p:nvSpPr>
        <p:spPr>
          <a:xfrm>
            <a:off x="320562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4" name="Google Shape;224;p37"/>
          <p:cNvSpPr/>
          <p:nvPr>
            <p:ph idx="15" type="pic"/>
          </p:nvPr>
        </p:nvSpPr>
        <p:spPr>
          <a:xfrm>
            <a:off x="606367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5" name="Google Shape;225;p37"/>
          <p:cNvSpPr txBox="1"/>
          <p:nvPr>
            <p:ph idx="16" type="title"/>
          </p:nvPr>
        </p:nvSpPr>
        <p:spPr>
          <a:xfrm>
            <a:off x="6564350" y="32715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7"/>
          <p:cNvSpPr txBox="1"/>
          <p:nvPr>
            <p:ph idx="17" type="title"/>
          </p:nvPr>
        </p:nvSpPr>
        <p:spPr>
          <a:xfrm>
            <a:off x="3706300" y="1554125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7"/>
          <p:cNvSpPr txBox="1"/>
          <p:nvPr>
            <p:ph idx="18" type="title"/>
          </p:nvPr>
        </p:nvSpPr>
        <p:spPr>
          <a:xfrm>
            <a:off x="6564350" y="1554125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7"/>
          <p:cNvSpPr txBox="1"/>
          <p:nvPr>
            <p:ph idx="19" type="title"/>
          </p:nvPr>
        </p:nvSpPr>
        <p:spPr>
          <a:xfrm>
            <a:off x="3706300" y="27811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7"/>
          <p:cNvSpPr txBox="1"/>
          <p:nvPr>
            <p:ph idx="20" type="title"/>
          </p:nvPr>
        </p:nvSpPr>
        <p:spPr>
          <a:xfrm>
            <a:off x="6564350" y="27811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7"/>
          <p:cNvSpPr txBox="1"/>
          <p:nvPr>
            <p:ph idx="21" type="body"/>
          </p:nvPr>
        </p:nvSpPr>
        <p:spPr>
          <a:xfrm>
            <a:off x="3706300" y="1810914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7"/>
          <p:cNvSpPr txBox="1"/>
          <p:nvPr>
            <p:ph idx="22" type="body"/>
          </p:nvPr>
        </p:nvSpPr>
        <p:spPr>
          <a:xfrm>
            <a:off x="3706300" y="3038996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37"/>
          <p:cNvSpPr/>
          <p:nvPr>
            <p:ph idx="2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ntent">
  <p:cSld name="CUSTOM_15"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/>
          <p:nvPr/>
        </p:nvSpPr>
        <p:spPr>
          <a:xfrm rot="5400000">
            <a:off x="4342200" y="341250"/>
            <a:ext cx="4914900" cy="4460100"/>
          </a:xfrm>
          <a:prstGeom prst="round2SameRect">
            <a:avLst>
              <a:gd fmla="val 349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8"/>
          <p:cNvSpPr txBox="1"/>
          <p:nvPr>
            <p:ph type="title"/>
          </p:nvPr>
        </p:nvSpPr>
        <p:spPr>
          <a:xfrm>
            <a:off x="932850" y="730375"/>
            <a:ext cx="32808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36" name="Google Shape;236;p38"/>
          <p:cNvSpPr txBox="1"/>
          <p:nvPr>
            <p:ph idx="1" type="subTitle"/>
          </p:nvPr>
        </p:nvSpPr>
        <p:spPr>
          <a:xfrm>
            <a:off x="5233275" y="763675"/>
            <a:ext cx="35037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8"/>
          <p:cNvSpPr txBox="1"/>
          <p:nvPr>
            <p:ph idx="2" type="subTitle"/>
          </p:nvPr>
        </p:nvSpPr>
        <p:spPr>
          <a:xfrm>
            <a:off x="955350" y="2928709"/>
            <a:ext cx="28449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3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8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Phone + Desktop">
  <p:cSld name="CUSTOM_16"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9"/>
          <p:cNvSpPr/>
          <p:nvPr>
            <p:ph idx="2" type="pic"/>
          </p:nvPr>
        </p:nvSpPr>
        <p:spPr>
          <a:xfrm>
            <a:off x="3768625" y="934850"/>
            <a:ext cx="4630500" cy="26067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39"/>
          <p:cNvSpPr/>
          <p:nvPr>
            <p:ph idx="3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39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9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Desktop">
  <p:cSld name="CUSTOM_16_2"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0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0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0" name="Google Shape;250;p40"/>
          <p:cNvSpPr/>
          <p:nvPr>
            <p:ph idx="3" type="pic"/>
          </p:nvPr>
        </p:nvSpPr>
        <p:spPr>
          <a:xfrm>
            <a:off x="1931050" y="789375"/>
            <a:ext cx="5281800" cy="29733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3 Phone">
  <p:cSld name="CUSTOM_16_1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1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1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41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6" name="Google Shape;256;p41"/>
          <p:cNvSpPr/>
          <p:nvPr>
            <p:ph idx="4" type="pic"/>
          </p:nvPr>
        </p:nvSpPr>
        <p:spPr>
          <a:xfrm>
            <a:off x="376500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41"/>
          <p:cNvSpPr/>
          <p:nvPr>
            <p:ph idx="5" type="pic"/>
          </p:nvPr>
        </p:nvSpPr>
        <p:spPr>
          <a:xfrm>
            <a:off x="67171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Tablet">
  <p:cSld name="CUSTOM_16_2_1"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2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2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" name="Google Shape;262;p42"/>
          <p:cNvSpPr/>
          <p:nvPr>
            <p:ph idx="3" type="pic"/>
          </p:nvPr>
        </p:nvSpPr>
        <p:spPr>
          <a:xfrm>
            <a:off x="1988050" y="627575"/>
            <a:ext cx="5167800" cy="38883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s Phone + Tablet">
  <p:cSld name="CUSTOM_16_1_1"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43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7" name="Google Shape;267;p43"/>
          <p:cNvSpPr/>
          <p:nvPr>
            <p:ph idx="4" type="pic"/>
          </p:nvPr>
        </p:nvSpPr>
        <p:spPr>
          <a:xfrm>
            <a:off x="3874125" y="866550"/>
            <a:ext cx="4531500" cy="34095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7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4"/>
          <p:cNvSpPr txBox="1"/>
          <p:nvPr>
            <p:ph idx="1" type="subTitle"/>
          </p:nvPr>
        </p:nvSpPr>
        <p:spPr>
          <a:xfrm>
            <a:off x="440281" y="763675"/>
            <a:ext cx="20703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4"/>
          <p:cNvSpPr txBox="1"/>
          <p:nvPr/>
        </p:nvSpPr>
        <p:spPr>
          <a:xfrm>
            <a:off x="871975" y="114300"/>
            <a:ext cx="13854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4"/>
                </a:solidFill>
                <a:latin typeface="Albert Sans"/>
                <a:ea typeface="Albert Sans"/>
                <a:cs typeface="Albert Sans"/>
                <a:sym typeface="Albert Sans"/>
              </a:rPr>
              <a:t>Future Focused</a:t>
            </a:r>
            <a:endParaRPr b="1">
              <a:solidFill>
                <a:schemeClr val="accent4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2" name="Google Shape;272;p44"/>
          <p:cNvSpPr txBox="1"/>
          <p:nvPr>
            <p:ph idx="2" type="subTitle"/>
          </p:nvPr>
        </p:nvSpPr>
        <p:spPr>
          <a:xfrm>
            <a:off x="580888" y="3286575"/>
            <a:ext cx="1757100" cy="11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3" name="Google Shape;273;p44"/>
          <p:cNvSpPr txBox="1"/>
          <p:nvPr>
            <p:ph idx="3" type="title"/>
          </p:nvPr>
        </p:nvSpPr>
        <p:spPr>
          <a:xfrm>
            <a:off x="440281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ullquote">
  <p:cSld name="CUSTOM_18">
    <p:bg>
      <p:bgPr>
        <a:solidFill>
          <a:schemeClr val="accent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idx="1" type="subTitle"/>
          </p:nvPr>
        </p:nvSpPr>
        <p:spPr>
          <a:xfrm>
            <a:off x="821950" y="763675"/>
            <a:ext cx="20703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5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5"/>
          <p:cNvSpPr txBox="1"/>
          <p:nvPr>
            <p:ph idx="2" type="subTitle"/>
          </p:nvPr>
        </p:nvSpPr>
        <p:spPr>
          <a:xfrm>
            <a:off x="1062075" y="763675"/>
            <a:ext cx="70254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anum Myeongjo"/>
              <a:buNone/>
              <a:defRPr b="0" sz="36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8" name="Google Shape;278;p45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5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2" name="Google Shape;282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3" name="Google Shape;28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6" name="Google Shape;28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0" name="Google Shape;29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4" name="Google Shape;294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5" name="Google Shape;29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1" name="Google Shape;301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5" name="Google Shape;30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9" name="Google Shape;309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0" name="Google Shape;310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1" name="Google Shape;311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14" name="Google Shape;31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7" name="Google Shape;317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8" name="Google Shape;318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3" name="Google Shape;333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8" name="Google Shape;338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9" name="Google Shape;339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0" name="Google Shape;340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1" name="Google Shape;341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6" name="Google Shape;346;p60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7" name="Google Shape;347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8" name="Google Shape;348;p60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9" name="Google Shape;349;p60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60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4" name="Google Shape;354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5" name="Google Shape;355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6" name="Google Shape;356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7" name="Google Shape;357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8" name="Google Shape;358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8" name="Google Shape;368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1" name="Google Shape;371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4" name="Google Shape;37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7" name="Google Shape;37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0" name="Google Shape;38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2" name="Google Shape;382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5" name="Google Shape;385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6" name="Google Shape;386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7550" y="425875"/>
            <a:ext cx="29163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7550" y="1714375"/>
            <a:ext cx="5780700" cy="29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141">
          <p15:clr>
            <a:srgbClr val="E46962"/>
          </p15:clr>
        </p15:guide>
        <p15:guide id="26" orient="horz" pos="3099">
          <p15:clr>
            <a:srgbClr val="E46962"/>
          </p15:clr>
        </p15:guide>
        <p15:guide id="27" pos="144">
          <p15:clr>
            <a:srgbClr val="E46962"/>
          </p15:clr>
        </p15:guide>
        <p15:guide id="28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drive.google.com/file/d/15w5Mlk3FtxXw1Y5NMX6ZJa_hD3EVl5ta/view?usp=sharing" TargetMode="External"/><Relationship Id="rId5" Type="http://schemas.openxmlformats.org/officeDocument/2006/relationships/hyperlink" Target="https://drive.google.com/file/d/13eOk5BcDU-cmDBSiHBmzMcb8CNESywsd/view?usp=sharing" TargetMode="External"/><Relationship Id="rId6" Type="http://schemas.openxmlformats.org/officeDocument/2006/relationships/hyperlink" Target="https://drive.google.com/file/d/1mRcVeCil2K05bzLksZ-MDJor2dgfQjk7/view?usp=sharin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docs.google.com/document/d/1iLL_v93Xkb2n4pInGAu5MAdntTyMWdBA/edit?usp=sharing&amp;ouid=111122765924925928813&amp;rtpof=true&amp;sd=true" TargetMode="External"/><Relationship Id="rId5" Type="http://schemas.openxmlformats.org/officeDocument/2006/relationships/hyperlink" Target="https://docs.google.com/spreadsheets/d/1f-qoUauhj6MK0l_wkoAmz-GGEm4bda7o/edit?usp=sharing&amp;ouid=111122765924925928813&amp;rtpof=true&amp;sd=true" TargetMode="External"/><Relationship Id="rId6" Type="http://schemas.openxmlformats.org/officeDocument/2006/relationships/hyperlink" Target="https://docs.google.com/spreadsheets/d/1f-qoUauhj6MK0l_wkoAmz-GGEm4bda7o/edit?usp=sharing&amp;ouid=111122765924925928813&amp;rtpof=true&amp;sd=true" TargetMode="External"/><Relationship Id="rId7" Type="http://schemas.openxmlformats.org/officeDocument/2006/relationships/hyperlink" Target="https://drive.google.com/file/d/1vSfNu5DxmyVChjV46DVYyTHzkseusQ9B/view?usp=sharing" TargetMode="External"/><Relationship Id="rId8" Type="http://schemas.openxmlformats.org/officeDocument/2006/relationships/hyperlink" Target="https://app.powerbi.com/groups/me/reports/7490bcc5-a6a9-4f9b-a32e-c6ee70963ad8/630c1f10d7840c3ebd1c?experience=power-bi&amp;clientSideAuth=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7"/>
          <p:cNvSpPr/>
          <p:nvPr/>
        </p:nvSpPr>
        <p:spPr>
          <a:xfrm>
            <a:off x="6367200" y="4601400"/>
            <a:ext cx="2145900" cy="318600"/>
          </a:xfrm>
          <a:prstGeom prst="roundRect">
            <a:avLst>
              <a:gd fmla="val 16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7" name="Google Shape;407;p67"/>
          <p:cNvSpPr txBox="1"/>
          <p:nvPr>
            <p:ph type="title"/>
          </p:nvPr>
        </p:nvSpPr>
        <p:spPr>
          <a:xfrm>
            <a:off x="942152" y="716075"/>
            <a:ext cx="7596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Final Project</a:t>
            </a:r>
            <a:endParaRPr b="1"/>
          </a:p>
        </p:txBody>
      </p:sp>
      <p:pic>
        <p:nvPicPr>
          <p:cNvPr descr="Hexagonal icon." id="408" name="Google Shape;408;p6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09" name="Google Shape;409;p67"/>
          <p:cNvSpPr txBox="1"/>
          <p:nvPr>
            <p:ph idx="3" type="title"/>
          </p:nvPr>
        </p:nvSpPr>
        <p:spPr>
          <a:xfrm>
            <a:off x="6423926" y="4623000"/>
            <a:ext cx="21459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MBTE1 (BADM-WD-T-B3)</a:t>
            </a:r>
            <a:endParaRPr b="1" sz="1200"/>
          </a:p>
        </p:txBody>
      </p:sp>
      <p:sp>
        <p:nvSpPr>
          <p:cNvPr id="410" name="Google Shape;410;p67"/>
          <p:cNvSpPr/>
          <p:nvPr/>
        </p:nvSpPr>
        <p:spPr>
          <a:xfrm>
            <a:off x="4091000" y="4601400"/>
            <a:ext cx="2145900" cy="318600"/>
          </a:xfrm>
          <a:prstGeom prst="roundRect">
            <a:avLst>
              <a:gd fmla="val 16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1" name="Google Shape;411;p67"/>
          <p:cNvSpPr txBox="1"/>
          <p:nvPr/>
        </p:nvSpPr>
        <p:spPr>
          <a:xfrm>
            <a:off x="4011950" y="4623000"/>
            <a:ext cx="23040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SRISANDHIYA NARAYANAN</a:t>
            </a:r>
            <a:endParaRPr b="1" sz="12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2" name="Google Shape;412;p67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3" name="Google Shape;413;p67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4" name="Google Shape;414;p67"/>
          <p:cNvSpPr txBox="1"/>
          <p:nvPr>
            <p:ph type="title"/>
          </p:nvPr>
        </p:nvSpPr>
        <p:spPr>
          <a:xfrm>
            <a:off x="865952" y="2087675"/>
            <a:ext cx="7596900" cy="147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Customer Purchase Analytics for E-commerce Platform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8"/>
          <p:cNvSpPr txBox="1"/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Agenda</a:t>
            </a:r>
            <a:endParaRPr>
              <a:solidFill>
                <a:schemeClr val="dk2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sp>
        <p:nvSpPr>
          <p:cNvPr id="420" name="Google Shape;420;p68"/>
          <p:cNvSpPr/>
          <p:nvPr/>
        </p:nvSpPr>
        <p:spPr>
          <a:xfrm rot="10800000">
            <a:off x="3923100" y="3737138"/>
            <a:ext cx="4992300" cy="69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68"/>
          <p:cNvSpPr/>
          <p:nvPr/>
        </p:nvSpPr>
        <p:spPr>
          <a:xfrm>
            <a:off x="3923125" y="278725"/>
            <a:ext cx="4989300" cy="69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8"/>
          <p:cNvSpPr/>
          <p:nvPr/>
        </p:nvSpPr>
        <p:spPr>
          <a:xfrm>
            <a:off x="3923152" y="972031"/>
            <a:ext cx="4989300" cy="69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68"/>
          <p:cNvSpPr/>
          <p:nvPr/>
        </p:nvSpPr>
        <p:spPr>
          <a:xfrm>
            <a:off x="3923152" y="1670453"/>
            <a:ext cx="4989300" cy="6933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68"/>
          <p:cNvSpPr/>
          <p:nvPr/>
        </p:nvSpPr>
        <p:spPr>
          <a:xfrm>
            <a:off x="3923152" y="2359819"/>
            <a:ext cx="4989300" cy="6933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25" name="Google Shape;425;p68"/>
          <p:cNvSpPr/>
          <p:nvPr/>
        </p:nvSpPr>
        <p:spPr>
          <a:xfrm>
            <a:off x="3923152" y="3052767"/>
            <a:ext cx="4989300" cy="6933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26" name="Google Shape;426;p68"/>
          <p:cNvSpPr txBox="1"/>
          <p:nvPr>
            <p:ph idx="4" type="title"/>
          </p:nvPr>
        </p:nvSpPr>
        <p:spPr>
          <a:xfrm>
            <a:off x="4466650" y="1670460"/>
            <a:ext cx="4440300" cy="6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&amp; Preprocessing</a:t>
            </a:r>
            <a:endParaRPr/>
          </a:p>
        </p:txBody>
      </p:sp>
      <p:sp>
        <p:nvSpPr>
          <p:cNvPr id="427" name="Google Shape;427;p68"/>
          <p:cNvSpPr txBox="1"/>
          <p:nvPr>
            <p:ph idx="2" type="title"/>
          </p:nvPr>
        </p:nvSpPr>
        <p:spPr>
          <a:xfrm>
            <a:off x="4466650" y="281269"/>
            <a:ext cx="4440300" cy="6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 &amp; Objectives</a:t>
            </a:r>
            <a:endParaRPr/>
          </a:p>
        </p:txBody>
      </p:sp>
      <p:sp>
        <p:nvSpPr>
          <p:cNvPr id="428" name="Google Shape;428;p68"/>
          <p:cNvSpPr txBox="1"/>
          <p:nvPr>
            <p:ph idx="3" type="title"/>
          </p:nvPr>
        </p:nvSpPr>
        <p:spPr>
          <a:xfrm>
            <a:off x="4466650" y="974571"/>
            <a:ext cx="4440300" cy="6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429" name="Google Shape;429;p68"/>
          <p:cNvSpPr txBox="1"/>
          <p:nvPr>
            <p:ph idx="5" type="title"/>
          </p:nvPr>
        </p:nvSpPr>
        <p:spPr>
          <a:xfrm>
            <a:off x="4469775" y="3742195"/>
            <a:ext cx="4440300" cy="6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Recommendations</a:t>
            </a:r>
            <a:endParaRPr/>
          </a:p>
        </p:txBody>
      </p:sp>
      <p:sp>
        <p:nvSpPr>
          <p:cNvPr id="430" name="Google Shape;430;p68"/>
          <p:cNvSpPr txBox="1"/>
          <p:nvPr>
            <p:ph idx="4294967295" type="title"/>
          </p:nvPr>
        </p:nvSpPr>
        <p:spPr>
          <a:xfrm>
            <a:off x="4466650" y="2359826"/>
            <a:ext cx="4440300" cy="6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Data Analytics Task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1" name="Google Shape;431;p68"/>
          <p:cNvSpPr txBox="1"/>
          <p:nvPr>
            <p:ph idx="4294967295" type="title"/>
          </p:nvPr>
        </p:nvSpPr>
        <p:spPr>
          <a:xfrm>
            <a:off x="4466650" y="3052773"/>
            <a:ext cx="4440300" cy="6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Insights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2" name="Google Shape;432;p68"/>
          <p:cNvSpPr txBox="1"/>
          <p:nvPr/>
        </p:nvSpPr>
        <p:spPr>
          <a:xfrm>
            <a:off x="4117109" y="282725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01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3" name="Google Shape;433;p68"/>
          <p:cNvSpPr txBox="1"/>
          <p:nvPr/>
        </p:nvSpPr>
        <p:spPr>
          <a:xfrm>
            <a:off x="4113984" y="974578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02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4" name="Google Shape;434;p68"/>
          <p:cNvSpPr txBox="1"/>
          <p:nvPr/>
        </p:nvSpPr>
        <p:spPr>
          <a:xfrm>
            <a:off x="4113984" y="1664316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03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5" name="Google Shape;435;p68"/>
          <p:cNvSpPr txBox="1"/>
          <p:nvPr/>
        </p:nvSpPr>
        <p:spPr>
          <a:xfrm>
            <a:off x="4117109" y="3739827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06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6" name="Google Shape;436;p68"/>
          <p:cNvSpPr txBox="1"/>
          <p:nvPr/>
        </p:nvSpPr>
        <p:spPr>
          <a:xfrm>
            <a:off x="4113984" y="2359833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04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7" name="Google Shape;437;p68"/>
          <p:cNvSpPr txBox="1"/>
          <p:nvPr/>
        </p:nvSpPr>
        <p:spPr>
          <a:xfrm>
            <a:off x="4113984" y="3052780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05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8" name="Google Shape;438;p68"/>
          <p:cNvSpPr/>
          <p:nvPr/>
        </p:nvSpPr>
        <p:spPr>
          <a:xfrm>
            <a:off x="85205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9" name="Google Shape;439;p68"/>
          <p:cNvSpPr txBox="1"/>
          <p:nvPr>
            <p:ph idx="12" type="sldNum"/>
          </p:nvPr>
        </p:nvSpPr>
        <p:spPr>
          <a:xfrm>
            <a:off x="84055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9"/>
          <p:cNvSpPr txBox="1"/>
          <p:nvPr>
            <p:ph type="title"/>
          </p:nvPr>
        </p:nvSpPr>
        <p:spPr>
          <a:xfrm>
            <a:off x="228600" y="451175"/>
            <a:ext cx="8089200" cy="6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3800"/>
              <a:t>Project Goal and Objectives</a:t>
            </a:r>
            <a:endParaRPr b="1" sz="3800"/>
          </a:p>
        </p:txBody>
      </p:sp>
      <p:pic>
        <p:nvPicPr>
          <p:cNvPr descr="Hexagonal icon." id="445" name="Google Shape;445;p6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46" name="Google Shape;446;p69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7" name="Google Shape;447;p69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8" name="Google Shape;448;p69"/>
          <p:cNvSpPr txBox="1"/>
          <p:nvPr>
            <p:ph type="title"/>
          </p:nvPr>
        </p:nvSpPr>
        <p:spPr>
          <a:xfrm>
            <a:off x="344850" y="1347150"/>
            <a:ext cx="8454300" cy="3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primary goal of this project is to conduct a comprehensive analysis of customer purchase behavior utilizing multiple datasets obtained from an e-commerce platform.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analysis aims to achieve the following objectives: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❖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Understanding Customer Purchasing Trends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❖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Identifying High-Value Products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❖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Evaluating Customer Retention and Segmentation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insights derived from this analysis will provide valuable recommendations to improve marketing strategies, enhance customer retention efforts, and optimize inventory management processes.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0"/>
          <p:cNvSpPr txBox="1"/>
          <p:nvPr>
            <p:ph type="title"/>
          </p:nvPr>
        </p:nvSpPr>
        <p:spPr>
          <a:xfrm>
            <a:off x="344850" y="542075"/>
            <a:ext cx="8089200" cy="6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Dataset</a:t>
            </a:r>
            <a:endParaRPr b="1" sz="3800"/>
          </a:p>
        </p:txBody>
      </p:sp>
      <p:pic>
        <p:nvPicPr>
          <p:cNvPr descr="Hexagonal icon." id="454" name="Google Shape;454;p7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55" name="Google Shape;455;p70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6" name="Google Shape;456;p70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7" name="Google Shape;457;p70"/>
          <p:cNvSpPr txBox="1"/>
          <p:nvPr>
            <p:ph type="title"/>
          </p:nvPr>
        </p:nvSpPr>
        <p:spPr>
          <a:xfrm>
            <a:off x="344850" y="1388700"/>
            <a:ext cx="8454300" cy="32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 u="sng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Customer profile dataset: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 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It contains all the details about the customers like Customer ID, Customer Name, Address, State, City, Contact No, Email ID etc.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 u="sng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Products dataset: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It contains the products information like Product ID, Product name, Category along with Brand it belongs to, Base price etc.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Purchase history dataset: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 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It contains the transactions which includes Product ID, Purchase ID, Customer ID, Purchase Date, Quantity, Amount etc.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1"/>
          <p:cNvSpPr txBox="1"/>
          <p:nvPr>
            <p:ph type="title"/>
          </p:nvPr>
        </p:nvSpPr>
        <p:spPr>
          <a:xfrm>
            <a:off x="228600" y="625300"/>
            <a:ext cx="8089200" cy="6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Data Cleaning &amp; Preprocessing</a:t>
            </a:r>
            <a:endParaRPr b="1" sz="3800"/>
          </a:p>
        </p:txBody>
      </p:sp>
      <p:pic>
        <p:nvPicPr>
          <p:cNvPr descr="Hexagonal icon." id="463" name="Google Shape;463;p7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64" name="Google Shape;464;p71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5" name="Google Shape;465;p71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6" name="Google Shape;466;p71"/>
          <p:cNvSpPr txBox="1"/>
          <p:nvPr>
            <p:ph type="title"/>
          </p:nvPr>
        </p:nvSpPr>
        <p:spPr>
          <a:xfrm>
            <a:off x="287575" y="1553775"/>
            <a:ext cx="8454300" cy="32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Handling Missing Data: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Checked for blank data in excel and there were no missing data in the dataset provided.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Removing Duplicates: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Checked for duplicates in the data using excel and no duplicates were found.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Outlier Detection: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Checked for outliers using scatter plot in excel and no outliers were detected in the dataset provided.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Data Loading: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Data loaded into MySql Workbench for further data analytics task.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2"/>
          <p:cNvSpPr txBox="1"/>
          <p:nvPr>
            <p:ph type="title"/>
          </p:nvPr>
        </p:nvSpPr>
        <p:spPr>
          <a:xfrm>
            <a:off x="228600" y="625300"/>
            <a:ext cx="8089200" cy="6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Data Analytics Tasks</a:t>
            </a:r>
            <a:endParaRPr b="1" sz="3800"/>
          </a:p>
        </p:txBody>
      </p:sp>
      <p:pic>
        <p:nvPicPr>
          <p:cNvPr descr="Hexagonal icon." id="472" name="Google Shape;472;p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73" name="Google Shape;473;p72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4" name="Google Shape;474;p72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5" name="Google Shape;475;p72"/>
          <p:cNvSpPr txBox="1"/>
          <p:nvPr>
            <p:ph type="title"/>
          </p:nvPr>
        </p:nvSpPr>
        <p:spPr>
          <a:xfrm>
            <a:off x="287575" y="1553775"/>
            <a:ext cx="8454300" cy="32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data analytics task from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A - T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were performed using Sql queries.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queries for respective question is in the word document: </a:t>
            </a:r>
            <a:r>
              <a:rPr lang="e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Queries &amp; Answers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respective output from SQL is in the excel workbook: </a:t>
            </a:r>
            <a:r>
              <a:rPr lang="e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Outcomes &amp; Analysis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Tasks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U - W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were performed and visualized in PowerBI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Screenshot samples have been attached in the same </a:t>
            </a:r>
            <a:r>
              <a:rPr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excel workbook: </a:t>
            </a:r>
            <a:r>
              <a:rPr lang="en" sz="1300" u="sng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Outcomes &amp; Analysis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Link to PowerBI file: </a:t>
            </a:r>
            <a:r>
              <a:rPr lang="e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Final_Project.pbix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Link to the published version of PowerBI Dashboard: </a:t>
            </a:r>
            <a:r>
              <a:rPr lang="e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PowerBI Service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3"/>
          <p:cNvSpPr txBox="1"/>
          <p:nvPr>
            <p:ph type="title"/>
          </p:nvPr>
        </p:nvSpPr>
        <p:spPr>
          <a:xfrm>
            <a:off x="228600" y="223475"/>
            <a:ext cx="8089200" cy="6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Insights</a:t>
            </a:r>
            <a:endParaRPr b="1" sz="3800"/>
          </a:p>
        </p:txBody>
      </p:sp>
      <p:pic>
        <p:nvPicPr>
          <p:cNvPr descr="Hexagonal icon." id="481" name="Google Shape;481;p7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82" name="Google Shape;482;p73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83" name="Google Shape;483;p73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84" name="Google Shape;484;p73"/>
          <p:cNvSpPr txBox="1"/>
          <p:nvPr>
            <p:ph type="title"/>
          </p:nvPr>
        </p:nvSpPr>
        <p:spPr>
          <a:xfrm>
            <a:off x="287575" y="897575"/>
            <a:ext cx="8454300" cy="39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total revenue generated is 798.08K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repeat purchase rate is 95%.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Certain product categories like fruits &amp; meats generate significantly higher revenue than others. These categories can help prioritize sales efforts.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Dairy product category performs well with the male 20-40 age group.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Customers above 40 contribute more revenue, while the 20-40 age group spends less.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Both genders contribute nearly equally to purchases, with a slight female bias.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Chicago is the top revenue-generating city, particularly for pasta, bread, and rice, while San Antonio shows weaker performance across products.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There is no clear relationship between age and average purchase value, suggesting that purchasing behavior is not significantly age-dependent.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tree map shows the top 5 popular products like Pasta, Bread, Rice, Butter &amp; Eggs based on purchase frequency.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4"/>
          <p:cNvSpPr txBox="1"/>
          <p:nvPr>
            <p:ph type="title"/>
          </p:nvPr>
        </p:nvSpPr>
        <p:spPr>
          <a:xfrm>
            <a:off x="228600" y="223475"/>
            <a:ext cx="8089200" cy="6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Strategic Recommendations</a:t>
            </a:r>
            <a:endParaRPr b="1" sz="3800"/>
          </a:p>
        </p:txBody>
      </p:sp>
      <p:pic>
        <p:nvPicPr>
          <p:cNvPr descr="Hexagonal icon." id="490" name="Google Shape;490;p7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91" name="Google Shape;491;p74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2" name="Google Shape;492;p74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3" name="Google Shape;493;p74"/>
          <p:cNvSpPr txBox="1"/>
          <p:nvPr>
            <p:ph type="title"/>
          </p:nvPr>
        </p:nvSpPr>
        <p:spPr>
          <a:xfrm>
            <a:off x="287575" y="828425"/>
            <a:ext cx="8454300" cy="39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Geographic Expansion and Focus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Focus on high-revenue cities like Chicago and explore opportunities in underperforming cities like San Antonio with localized marketing and increased product availability.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Customer Segmentation and Targeting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Implement personalized marketing strategies for high-value customers and target the 20-40 age group with campaigns aimed at increasing their spending.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Product Promotions and Inventory Management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Prioritize high-performing products (e.g., pasta, bread, rice) and consider bundling to boost sales. Align inventory with demand insights from the heat map.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Data-Driven Decisions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Use real-time data from charts and slicers to adjust strategies quickly and ensure the dashboard is regularly updated to reflect emerging trends.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Customer Retention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Improve repeat purchase rates by implementing loyalty programs, personalized discounts, and focusing retention efforts on top customers for greater lifetime value.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5"/>
          <p:cNvSpPr txBox="1"/>
          <p:nvPr>
            <p:ph type="title"/>
          </p:nvPr>
        </p:nvSpPr>
        <p:spPr>
          <a:xfrm>
            <a:off x="773552" y="1675600"/>
            <a:ext cx="7596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Thank You</a:t>
            </a:r>
            <a:endParaRPr b="1"/>
          </a:p>
        </p:txBody>
      </p:sp>
      <p:pic>
        <p:nvPicPr>
          <p:cNvPr descr="Hexagonal icon." id="499" name="Google Shape;499;p7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500" name="Google Shape;500;p75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1" name="Google Shape;501;p75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les Pitch">
  <a:themeElements>
    <a:clrScheme name="Simple Light">
      <a:dk1>
        <a:srgbClr val="08005F"/>
      </a:dk1>
      <a:lt1>
        <a:srgbClr val="FFFFFF"/>
      </a:lt1>
      <a:dk2>
        <a:srgbClr val="000000"/>
      </a:dk2>
      <a:lt2>
        <a:srgbClr val="B1A1FF"/>
      </a:lt2>
      <a:accent1>
        <a:srgbClr val="A1FF5F"/>
      </a:accent1>
      <a:accent2>
        <a:srgbClr val="1BBE90"/>
      </a:accent2>
      <a:accent3>
        <a:srgbClr val="0A485F"/>
      </a:accent3>
      <a:accent4>
        <a:srgbClr val="9ACAE0"/>
      </a:accent4>
      <a:accent5>
        <a:srgbClr val="D1D1EB"/>
      </a:accent5>
      <a:accent6>
        <a:srgbClr val="2837DB"/>
      </a:accent6>
      <a:hlink>
        <a:srgbClr val="2837D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